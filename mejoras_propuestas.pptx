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64" r:id="rId4"/>
    <p:sldId id="265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Montserrat Bold" panose="020B0604020202020204" charset="0"/>
      <p:regular r:id="rId10"/>
    </p:embeddedFont>
    <p:embeddedFont>
      <p:font typeface="Poppins" panose="00000800000000000000" pitchFamily="2" charset="0"/>
      <p:regular r:id="rId11"/>
      <p:boldItalic r:id="rId12"/>
    </p:embeddedFont>
    <p:embeddedFont>
      <p:font typeface="Poppins Bold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3" d="100"/>
          <a:sy n="63" d="100"/>
        </p:scale>
        <p:origin x="384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258321"/>
            <a:ext cx="18288000" cy="10028679"/>
          </a:xfrm>
          <a:custGeom>
            <a:avLst/>
            <a:gdLst/>
            <a:ahLst/>
            <a:cxnLst/>
            <a:rect l="l" t="t" r="r" b="b"/>
            <a:pathLst>
              <a:path w="18288000" h="10028679">
                <a:moveTo>
                  <a:pt x="0" y="0"/>
                </a:moveTo>
                <a:lnTo>
                  <a:pt x="18288000" y="0"/>
                </a:lnTo>
                <a:lnTo>
                  <a:pt x="18288000" y="10028679"/>
                </a:lnTo>
                <a:lnTo>
                  <a:pt x="0" y="100286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9" r="-79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3" name="TextBox 3"/>
          <p:cNvSpPr txBox="1"/>
          <p:nvPr/>
        </p:nvSpPr>
        <p:spPr>
          <a:xfrm>
            <a:off x="4103186" y="942975"/>
            <a:ext cx="9659598" cy="1751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</a:pPr>
            <a:r>
              <a:rPr lang="es-ES" sz="5400" dirty="0"/>
              <a:t>Proceso de Inscripción Intersemestral - FESC</a:t>
            </a:r>
            <a:endParaRPr lang="en-US" sz="4999" b="1" dirty="0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4929663" y="3212392"/>
            <a:ext cx="8006644" cy="596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Nestor Iván Granados Valenzuela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762609" y="4409367"/>
            <a:ext cx="8340752" cy="516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Modelos y Documentación del Software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103186" y="5753968"/>
            <a:ext cx="9659598" cy="625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>
                <a:solidFill>
                  <a:srgbClr val="A6A6A6"/>
                </a:solidFill>
                <a:latin typeface="Poppins"/>
                <a:ea typeface="Poppins"/>
                <a:cs typeface="Poppins"/>
                <a:sym typeface="Poppins"/>
              </a:rPr>
              <a:t> Ingeniería de Software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593232" y="8029845"/>
            <a:ext cx="10679506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dirty="0" err="1">
                <a:solidFill>
                  <a:srgbClr val="A6A6A6"/>
                </a:solidFill>
                <a:latin typeface="Poppins"/>
                <a:ea typeface="Poppins"/>
                <a:cs typeface="Poppins"/>
                <a:sym typeface="Poppins"/>
              </a:rPr>
              <a:t>Noviembre</a:t>
            </a:r>
            <a:r>
              <a:rPr lang="en-US" sz="3000" dirty="0">
                <a:solidFill>
                  <a:srgbClr val="A6A6A6"/>
                </a:solidFill>
                <a:latin typeface="Poppins"/>
                <a:ea typeface="Poppins"/>
                <a:cs typeface="Poppins"/>
                <a:sym typeface="Poppins"/>
              </a:rPr>
              <a:t> 11 de 2025</a:t>
            </a:r>
          </a:p>
          <a:p>
            <a:pPr algn="ctr">
              <a:lnSpc>
                <a:spcPts val="4200"/>
              </a:lnSpc>
            </a:pPr>
            <a:r>
              <a:rPr lang="en-US" sz="3000" dirty="0">
                <a:solidFill>
                  <a:srgbClr val="A6A6A6"/>
                </a:solidFill>
                <a:latin typeface="Poppins"/>
                <a:ea typeface="Poppins"/>
                <a:cs typeface="Poppins"/>
                <a:sym typeface="Poppins"/>
              </a:rPr>
              <a:t>Cúcuta, Norte de Santander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93232" y="6931893"/>
            <a:ext cx="10679506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A6A6A6"/>
                </a:solidFill>
                <a:latin typeface="Poppins Bold"/>
                <a:ea typeface="Poppins Bold"/>
                <a:cs typeface="Poppins Bold"/>
                <a:sym typeface="Poppins Bold"/>
              </a:rPr>
              <a:t>Fundación de Estudios Superiores Comfanorte (FESC)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37160"/>
            <a:ext cx="18288000" cy="10028679"/>
          </a:xfrm>
          <a:custGeom>
            <a:avLst/>
            <a:gdLst/>
            <a:ahLst/>
            <a:cxnLst/>
            <a:rect l="l" t="t" r="r" b="b"/>
            <a:pathLst>
              <a:path w="18288000" h="10028679">
                <a:moveTo>
                  <a:pt x="0" y="0"/>
                </a:moveTo>
                <a:lnTo>
                  <a:pt x="18288000" y="0"/>
                </a:lnTo>
                <a:lnTo>
                  <a:pt x="18288000" y="10028679"/>
                </a:lnTo>
                <a:lnTo>
                  <a:pt x="0" y="100286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9" r="-79"/>
            </a:stretch>
          </a:blipFill>
        </p:spPr>
        <p:txBody>
          <a:bodyPr/>
          <a:lstStyle/>
          <a:p>
            <a:endParaRPr lang="es-ES" dirty="0"/>
          </a:p>
        </p:txBody>
      </p:sp>
      <p:sp>
        <p:nvSpPr>
          <p:cNvPr id="3" name="TextBox 3"/>
          <p:cNvSpPr txBox="1"/>
          <p:nvPr/>
        </p:nvSpPr>
        <p:spPr>
          <a:xfrm>
            <a:off x="4953000" y="3695700"/>
            <a:ext cx="9982200" cy="2215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3600"/>
              <a:t>Validaciones </a:t>
            </a:r>
            <a:r>
              <a:rPr lang="es-ES" sz="3600" dirty="0"/>
              <a:t>manuales de prerrequisitos y cupos.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3600" dirty="0"/>
              <a:t>Pagos gestionados por Tesorería sin integración.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3600" dirty="0"/>
              <a:t>Activación del aula virtual posterior al pago.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3600" dirty="0"/>
              <a:t>Comunicación lenta con docentes.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05200" y="1202067"/>
            <a:ext cx="9659598" cy="714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79"/>
              </a:lnSpc>
            </a:pPr>
            <a:r>
              <a:rPr lang="es-ES" sz="4400" b="1" dirty="0"/>
              <a:t>Situación Actual (AS-IS)</a:t>
            </a:r>
            <a:endParaRPr lang="en-US" sz="4199" b="1" dirty="0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116B6-CC0B-5CDB-B476-F002C2A9F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692B9DC-48CE-2D55-975A-22E5DE5DF061}"/>
              </a:ext>
            </a:extLst>
          </p:cNvPr>
          <p:cNvSpPr/>
          <p:nvPr/>
        </p:nvSpPr>
        <p:spPr>
          <a:xfrm>
            <a:off x="0" y="137160"/>
            <a:ext cx="18288000" cy="10028679"/>
          </a:xfrm>
          <a:custGeom>
            <a:avLst/>
            <a:gdLst/>
            <a:ahLst/>
            <a:cxnLst/>
            <a:rect l="l" t="t" r="r" b="b"/>
            <a:pathLst>
              <a:path w="18288000" h="10028679">
                <a:moveTo>
                  <a:pt x="0" y="0"/>
                </a:moveTo>
                <a:lnTo>
                  <a:pt x="18288000" y="0"/>
                </a:lnTo>
                <a:lnTo>
                  <a:pt x="18288000" y="10028679"/>
                </a:lnTo>
                <a:lnTo>
                  <a:pt x="0" y="100286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9" r="-79"/>
            </a:stretch>
          </a:blipFill>
        </p:spPr>
        <p:txBody>
          <a:bodyPr/>
          <a:lstStyle/>
          <a:p>
            <a:endParaRPr lang="es-ES" dirty="0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208F4AC8-E0AF-0093-C8C8-EDE5C4DD7EA2}"/>
              </a:ext>
            </a:extLst>
          </p:cNvPr>
          <p:cNvSpPr txBox="1"/>
          <p:nvPr/>
        </p:nvSpPr>
        <p:spPr>
          <a:xfrm>
            <a:off x="3505200" y="425398"/>
            <a:ext cx="9659598" cy="714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79"/>
              </a:lnSpc>
            </a:pPr>
            <a:r>
              <a:rPr lang="es-ES" sz="4400" b="1" dirty="0"/>
              <a:t>Situación Actual (AS-IS)</a:t>
            </a:r>
            <a:endParaRPr lang="en-US" sz="4199" b="1" dirty="0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pic>
        <p:nvPicPr>
          <p:cNvPr id="6" name="Imagen 5" descr="Diagrama, Esquemático&#10;&#10;El contenido generado por IA puede ser incorrecto.">
            <a:extLst>
              <a:ext uri="{FF2B5EF4-FFF2-40B4-BE49-F238E27FC236}">
                <a16:creationId xmlns:a16="http://schemas.microsoft.com/office/drawing/2014/main" id="{C5FFA5F9-98F7-1D57-48AF-1942251354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600" y="1427999"/>
            <a:ext cx="13106400" cy="7713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168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606B3-C420-E6F9-F4B8-AE2D93BE6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1CCEAF3-C920-A2EC-E3AE-96233E93FF9A}"/>
              </a:ext>
            </a:extLst>
          </p:cNvPr>
          <p:cNvSpPr/>
          <p:nvPr/>
        </p:nvSpPr>
        <p:spPr>
          <a:xfrm>
            <a:off x="0" y="129160"/>
            <a:ext cx="18288000" cy="10028679"/>
          </a:xfrm>
          <a:custGeom>
            <a:avLst/>
            <a:gdLst/>
            <a:ahLst/>
            <a:cxnLst/>
            <a:rect l="l" t="t" r="r" b="b"/>
            <a:pathLst>
              <a:path w="18288000" h="10028679">
                <a:moveTo>
                  <a:pt x="0" y="0"/>
                </a:moveTo>
                <a:lnTo>
                  <a:pt x="18288000" y="0"/>
                </a:lnTo>
                <a:lnTo>
                  <a:pt x="18288000" y="10028679"/>
                </a:lnTo>
                <a:lnTo>
                  <a:pt x="0" y="100286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9" r="-79"/>
            </a:stretch>
          </a:blipFill>
        </p:spPr>
        <p:txBody>
          <a:bodyPr/>
          <a:lstStyle/>
          <a:p>
            <a:endParaRPr lang="es-ES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4D9CAB5F-422C-A42F-7A23-41C494FF4414}"/>
              </a:ext>
            </a:extLst>
          </p:cNvPr>
          <p:cNvSpPr txBox="1"/>
          <p:nvPr/>
        </p:nvSpPr>
        <p:spPr>
          <a:xfrm>
            <a:off x="4953000" y="3695700"/>
            <a:ext cx="9982200" cy="38779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3600" dirty="0"/>
              <a:t>Validaciones automáticas con motor de reglas.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3600" dirty="0"/>
              <a:t>Pasarela de pago integrado (confirmación inmediata).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3600" dirty="0"/>
              <a:t>Acceso automático al aula virtual (API con LMS).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3600" dirty="0"/>
              <a:t>Notificaciones instantáneas a estudiantes y docentes.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s-ES" sz="3600" dirty="0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BD587FAA-CF10-65E1-1DD4-B0387C43A578}"/>
              </a:ext>
            </a:extLst>
          </p:cNvPr>
          <p:cNvSpPr txBox="1"/>
          <p:nvPr/>
        </p:nvSpPr>
        <p:spPr>
          <a:xfrm>
            <a:off x="3505200" y="1202067"/>
            <a:ext cx="9659598" cy="714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79"/>
              </a:lnSpc>
            </a:pPr>
            <a:r>
              <a:rPr lang="es-ES" sz="4400" dirty="0"/>
              <a:t>Proceso Optimizado (TO-BE)</a:t>
            </a:r>
            <a:endParaRPr lang="en-US" sz="4199" b="1" dirty="0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</p:spTree>
    <p:extLst>
      <p:ext uri="{BB962C8B-B14F-4D97-AF65-F5344CB8AC3E}">
        <p14:creationId xmlns:p14="http://schemas.microsoft.com/office/powerpoint/2010/main" val="1295710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37160"/>
            <a:ext cx="18288000" cy="10028679"/>
          </a:xfrm>
          <a:custGeom>
            <a:avLst/>
            <a:gdLst/>
            <a:ahLst/>
            <a:cxnLst/>
            <a:rect l="l" t="t" r="r" b="b"/>
            <a:pathLst>
              <a:path w="18288000" h="10028679">
                <a:moveTo>
                  <a:pt x="0" y="0"/>
                </a:moveTo>
                <a:lnTo>
                  <a:pt x="18288000" y="0"/>
                </a:lnTo>
                <a:lnTo>
                  <a:pt x="18288000" y="10028679"/>
                </a:lnTo>
                <a:lnTo>
                  <a:pt x="0" y="100286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9" r="-79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4" name="TextBox 4"/>
          <p:cNvSpPr txBox="1"/>
          <p:nvPr/>
        </p:nvSpPr>
        <p:spPr>
          <a:xfrm>
            <a:off x="3514468" y="604578"/>
            <a:ext cx="9659598" cy="714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79"/>
              </a:lnSpc>
            </a:pPr>
            <a:r>
              <a:rPr lang="es-ES" sz="4400" dirty="0"/>
              <a:t>Proceso Optimizado (TO-BE)</a:t>
            </a:r>
            <a:endParaRPr lang="en-US" sz="4199" b="1" dirty="0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pic>
        <p:nvPicPr>
          <p:cNvPr id="5" name="Imagen 4" descr="Tabla&#10;&#10;El contenido generado por IA puede ser incorrecto.">
            <a:extLst>
              <a:ext uri="{FF2B5EF4-FFF2-40B4-BE49-F238E27FC236}">
                <a16:creationId xmlns:a16="http://schemas.microsoft.com/office/drawing/2014/main" id="{6999E081-35F1-269A-56A9-42EEDE4B14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7550" y="1700212"/>
            <a:ext cx="13051148" cy="76342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258321"/>
            <a:ext cx="18288000" cy="10028679"/>
          </a:xfrm>
          <a:custGeom>
            <a:avLst/>
            <a:gdLst/>
            <a:ahLst/>
            <a:cxnLst/>
            <a:rect l="l" t="t" r="r" b="b"/>
            <a:pathLst>
              <a:path w="18288000" h="10028679">
                <a:moveTo>
                  <a:pt x="0" y="0"/>
                </a:moveTo>
                <a:lnTo>
                  <a:pt x="18288000" y="0"/>
                </a:lnTo>
                <a:lnTo>
                  <a:pt x="18288000" y="10028679"/>
                </a:lnTo>
                <a:lnTo>
                  <a:pt x="0" y="100286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9" r="-79"/>
            </a:stretch>
          </a:blipFill>
        </p:spPr>
        <p:txBody>
          <a:bodyPr/>
          <a:lstStyle/>
          <a:p>
            <a:endParaRPr lang="es-ES"/>
          </a:p>
        </p:txBody>
      </p:sp>
      <p:graphicFrame>
        <p:nvGraphicFramePr>
          <p:cNvPr id="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5618038"/>
              </p:ext>
            </p:extLst>
          </p:nvPr>
        </p:nvGraphicFramePr>
        <p:xfrm>
          <a:off x="4192505" y="2552700"/>
          <a:ext cx="8970734" cy="4042140"/>
        </p:xfrm>
        <a:graphic>
          <a:graphicData uri="http://schemas.openxmlformats.org/drawingml/2006/table">
            <a:tbl>
              <a:tblPr/>
              <a:tblGrid>
                <a:gridCol w="2911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52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52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288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36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b="1"/>
                        <a:t>Métrica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b="1" dirty="0"/>
                        <a:t>AS-IS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b="1"/>
                        <a:t>TO-BE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b="1" dirty="0"/>
                        <a:t>Mejora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36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Actividades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29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26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−3 pasos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36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Puntos de decisión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6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5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Menos bifurcaciones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36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Automatización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Media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Alta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Validaciones automáticas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36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Facilidad de uso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Media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Alta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Interfaz guiada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36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Métrica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AS-IS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TO-BE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dirty="0"/>
                        <a:t>Mejora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4"/>
          <p:cNvSpPr txBox="1"/>
          <p:nvPr/>
        </p:nvSpPr>
        <p:spPr>
          <a:xfrm>
            <a:off x="3786289" y="634365"/>
            <a:ext cx="9939807" cy="71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79"/>
              </a:lnSpc>
            </a:pPr>
            <a:r>
              <a:rPr lang="en-US" sz="41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Comparativo AS-IS vs TO-BE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724400" y="7734300"/>
            <a:ext cx="7280847" cy="875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00"/>
              </a:lnSpc>
            </a:pPr>
            <a:r>
              <a:rPr lang="es-ES" sz="2800" dirty="0"/>
              <a:t>“El TO-BE es más rápido, confiable y fácil de usar.”</a:t>
            </a:r>
          </a:p>
          <a:p>
            <a:pPr algn="just">
              <a:lnSpc>
                <a:spcPts val="3500"/>
              </a:lnSpc>
            </a:pPr>
            <a:endParaRPr lang="en-US" sz="25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37160"/>
            <a:ext cx="18288000" cy="10028679"/>
          </a:xfrm>
          <a:custGeom>
            <a:avLst/>
            <a:gdLst/>
            <a:ahLst/>
            <a:cxnLst/>
            <a:rect l="l" t="t" r="r" b="b"/>
            <a:pathLst>
              <a:path w="18288000" h="10028679">
                <a:moveTo>
                  <a:pt x="0" y="0"/>
                </a:moveTo>
                <a:lnTo>
                  <a:pt x="18288000" y="0"/>
                </a:lnTo>
                <a:lnTo>
                  <a:pt x="18288000" y="10028679"/>
                </a:lnTo>
                <a:lnTo>
                  <a:pt x="0" y="100286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9" r="-79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3" name="TextBox 3"/>
          <p:cNvSpPr txBox="1"/>
          <p:nvPr/>
        </p:nvSpPr>
        <p:spPr>
          <a:xfrm>
            <a:off x="3741451" y="1702937"/>
            <a:ext cx="9659598" cy="831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sz="4999" b="1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Conclusiones</a:t>
            </a:r>
            <a:r>
              <a:rPr lang="en-US" sz="499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finales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408700" y="3390900"/>
            <a:ext cx="10325100" cy="4369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s-ES" sz="3600" dirty="0"/>
              <a:t>Mejora integral en tiempo, control y experiencia del usuario.</a:t>
            </a:r>
            <a:endParaRPr lang="en-US" sz="35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3500" dirty="0">
                <a:solidFill>
                  <a:srgbClr val="000000"/>
                </a:solidFill>
                <a:cs typeface="Poppins"/>
                <a:sym typeface="Poppins"/>
              </a:rPr>
              <a:t>M</a:t>
            </a:r>
            <a:r>
              <a:rPr lang="es-ES" sz="3600" dirty="0"/>
              <a:t>enor carga operativa para Coordinación y Tesorería.</a:t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s-ES" sz="3600" dirty="0"/>
              <a:t>Integración entre sistemas institucionales (académico, financiero, LMS).</a:t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s-ES" sz="3600" dirty="0"/>
              <a:t>Base para futuras automatizaciones institucionales.</a:t>
            </a:r>
            <a:endParaRPr lang="en-US" sz="35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37160"/>
            <a:ext cx="18288000" cy="10028679"/>
          </a:xfrm>
          <a:custGeom>
            <a:avLst/>
            <a:gdLst/>
            <a:ahLst/>
            <a:cxnLst/>
            <a:rect l="l" t="t" r="r" b="b"/>
            <a:pathLst>
              <a:path w="18288000" h="10028679">
                <a:moveTo>
                  <a:pt x="0" y="0"/>
                </a:moveTo>
                <a:lnTo>
                  <a:pt x="18288000" y="0"/>
                </a:lnTo>
                <a:lnTo>
                  <a:pt x="18288000" y="10028679"/>
                </a:lnTo>
                <a:lnTo>
                  <a:pt x="0" y="100286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9" r="-79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3" name="TextBox 3"/>
          <p:cNvSpPr txBox="1"/>
          <p:nvPr/>
        </p:nvSpPr>
        <p:spPr>
          <a:xfrm>
            <a:off x="6116624" y="4235375"/>
            <a:ext cx="6054752" cy="831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sz="499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GRACIAS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205</Words>
  <Application>Microsoft Office PowerPoint</Application>
  <PresentationFormat>Personalizado</PresentationFormat>
  <Paragraphs>51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4" baseType="lpstr">
      <vt:lpstr>Montserrat Bold</vt:lpstr>
      <vt:lpstr>Poppins</vt:lpstr>
      <vt:lpstr>Arial</vt:lpstr>
      <vt:lpstr>Calibri</vt:lpstr>
      <vt:lpstr>Poppins 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mejoras_propuestas</dc:title>
  <cp:lastModifiedBy>Aula 104</cp:lastModifiedBy>
  <cp:revision>4</cp:revision>
  <dcterms:created xsi:type="dcterms:W3CDTF">2006-08-16T00:00:00Z</dcterms:created>
  <dcterms:modified xsi:type="dcterms:W3CDTF">2025-11-11T14:52:47Z</dcterms:modified>
  <dc:identifier>DAG4Yygd9Nk</dc:identifier>
</cp:coreProperties>
</file>